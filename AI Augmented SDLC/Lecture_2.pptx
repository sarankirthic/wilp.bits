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311" r:id="rId2"/>
    <p:sldId id="312" r:id="rId3"/>
    <p:sldId id="326" r:id="rId4"/>
    <p:sldId id="329" r:id="rId5"/>
    <p:sldId id="330" r:id="rId6"/>
    <p:sldId id="331" r:id="rId7"/>
    <p:sldId id="332" r:id="rId8"/>
    <p:sldId id="333" r:id="rId9"/>
    <p:sldId id="337" r:id="rId10"/>
    <p:sldId id="327" r:id="rId11"/>
    <p:sldId id="334" r:id="rId12"/>
    <p:sldId id="335" r:id="rId13"/>
    <p:sldId id="336" r:id="rId14"/>
    <p:sldId id="338" r:id="rId15"/>
    <p:sldId id="339" r:id="rId16"/>
    <p:sldId id="328" r:id="rId17"/>
    <p:sldId id="265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6" roundtripDataSignature="AMtx7mgo9uSRA0WETdhqdHWNBKCI42gc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1A0E78D-CFBE-46A0-B656-1FB9B1C8EDF3}">
  <a:tblStyle styleId="{51A0E78D-CFBE-46A0-B656-1FB9B1C8EDF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6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66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6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366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04188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6-08-01T14:01:56.9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8837 5027 0,'35'0'62,"71"0"-46,53 0-1,106 0 17,599 0 14,-159 0-14,-34-18 15,-565 18-47,493 0 31,-299 0-16,-247 0-15,141 18 16,159-18 0,-106 18-1,-71-18 1,71 0 0,0 0 15,-159 0-31,36 0 15,-18 0 1,52 0 0,-87 0-16,35 0 15,88 0 1,-124 0 0,-17 0-1,-35 0 1,70 0-1,-53 0 1,-17 0 0</inkml:trace>
  <inkml:trace contextRef="#ctx0" brushRef="#br0" timeOffset="8613.1">22419 6262 0,'71'0'94,"140"0"-63,71 0-15,248 0 46,-477 0-46,176 0-1,-88 0 1,-106 0 0,1 0-16,-1 0 15,35 0 16,-52 0-15,0 0 125</inkml:trace>
  <inkml:trace contextRef="#ctx0" brushRef="#br0" timeOffset="17590.46">13194 7338 0,'35'0'94,"0"0"-78,36 0-1,70 0 17,-70 0-32,334 0 62,-87 0-31,-248 0-31,107 0 16,-89 0 0,88 0-1,-52 0 1,-71 0-16,17 0 16,71 0-1,-35 0-15,-53 0 16,106 0-1,-18 0 1,-35 0 0,17 0-1,-34 0 1,-19 0 0,142 0 15,-124 0-16,53 0 1,-106 0 0,1 0-16,17 0 15,105 17 1,-122-17-16,17 0 16,52 0-1,54 0 1,-35 18-1,-54-18 1,124 0 0,-53 0-1,0 0 1,-88 0-16,71 0 16,-54 0-1,107 0 16,-160 0-15,142 18-16,-53-18 16,106 0-1,-160 0-15,-34 0 16,106 0 0,-1 0-1,-70 0 1,53 0-1,17 0 1,-87 0 0,87 17-1,1-17 17,70 0-17,-71 0 16,-52 0-15,34 0 0,-34 0-1,52 0 1,19 0 0,-90 0-1,37 0 1,-1 0-1,35 0 1,-70 0-16,124 0 16,-54 0-1,18 0 1,89 0 0,-142 0-16,-53 0 31,406 0 0,-265 0-15,-123 0-1,-17 0-15,16 0 16,125 0 0,-54 0-1,1 0 1,-71 0-16,53 0 15,35 0 1,-35 0 0,-54 0-16,19 0 15,35 0 1,-36 0 0,-17 0-16,-17 0 31,-1 0-31,141 0 31,-123 0-15,0 0-1,0 0 1,0 0 0,-18 0-1,71 0 1,-88 0-16,-1 0 15,19 0 1,-1 0 0,-18 0-16,19 0 15,-1 0 1,0 0 15,-17 0-31,0 0 31,-1 0 1</inkml:trace>
  <inkml:trace contextRef="#ctx0" brushRef="#br0" timeOffset="33147.92">3933 8784 0,'18'0'31,"17"0"-16,265 0 17,176 18-1,1200 17 16,-1499-35-32,563 18 1,-34 35 15,-353-53-15,158 0 0,36 0 15,-476 0-31,87 0 15,283 0 1,-229 17 0,53-17-1,-71 0-15,247 0 16,-247 0 0,-53 0-16,-18 18 15,301-18 16,-336 0-31,141 0 16,-141 0 0,0 0-1,18-35 1,-53 35 0,0 0 15,-18-18-31,-17 18 15,53 0 1,-54-18 0,19 18-1,-19 0 17</inkml:trace>
  <inkml:trace contextRef="#ctx0" brushRef="#br0" timeOffset="57543.13">13811 11077 0,'106'0'63,"317"0"-32,636 0 16,-36 18-16,-529-18-15,-212 0 0,-106 0-16,18 17 31,-17-17-16,-71 0 1,-36 0 0,-52 0-16,-1 0 15</inkml:trace>
  <inkml:trace contextRef="#ctx0" brushRef="#br0" timeOffset="75274.17">14640 8625 0,'36'53'93,"-36"-35"-77,17 0 0,1-18-1,17 0-15,71 0 31,705-283 16,-229 89-15,-405 141-1,-124 53-16,-53 18 79,0 0-78,17-1-1,-17 1 1</inkml:trace>
  <inkml:trace contextRef="#ctx0" brushRef="#br0" timeOffset="77080.14">13476 2505 0,'159'17'16,"-142"-17"-1,213 0 1,1304 0 31,-969 0-31,1322 0 30,-1287 0-14,-371 0-17,-105 0 1,70 18 15,-177-18-31,19 18 16,17-18 15</inkml:trace>
  <inkml:trace contextRef="#ctx0" brushRef="#br0" timeOffset="79991.16">3810 4851 0,'123'0'62,"424"17"-30,-335-17-32,582 36 15,-600-19 17,106 1-1,-195-18 16</inkml:trace>
  <inkml:trace contextRef="#ctx0" brushRef="#br0" timeOffset="99641.28">31468 8872 0,'0'0'16,"17"0"-16,54 0 16,-36 0-1,36 0 1,158 89 31,-211-72-47,52 89 31,-70 741 32,-123-230-48,17-211 16,18-36-15,-18 106 0,88-405-1,-35 141 1,53-142-16,0-17 16,-17 0-16,17-18 15,0 89 1,17-54-1,1-34 1,35-1 0,-18 0-1,1-35 1,-19 0 15,-17 18 47,18 17-62,-18 53 0,0 53-1,0-70 1,17 105-1,1-52 1,0 17 15,-1-18-15,1 1 15,-18 17-15,0-88 15,-35-35-31,-1 17 16,-52 18-1,0 0 1,-18-18 0,18-17-16,35-1 15,-264 36 1,281-53-16,-52 0 15,-53 18 1,70-18 0,19 0 15,16 0 0,1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wo Content">
  <p:cSld name="2_Two Conten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8"/>
          <p:cNvPicPr preferRelativeResize="0"/>
          <p:nvPr/>
        </p:nvPicPr>
        <p:blipFill rotWithShape="1">
          <a:blip r:embed="rId2">
            <a:alphaModFix/>
          </a:blip>
          <a:srcRect l="13070" t="2102" r="13441" b="24408"/>
          <a:stretch/>
        </p:blipFill>
        <p:spPr>
          <a:xfrm>
            <a:off x="11131297" y="231878"/>
            <a:ext cx="828826" cy="8288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" name="Google Shape;76;p18"/>
          <p:cNvGrpSpPr/>
          <p:nvPr/>
        </p:nvGrpSpPr>
        <p:grpSpPr>
          <a:xfrm>
            <a:off x="2051531" y="5137310"/>
            <a:ext cx="10140469" cy="1726066"/>
            <a:chOff x="2051531" y="5793529"/>
            <a:chExt cx="10140469" cy="1726066"/>
          </a:xfrm>
        </p:grpSpPr>
        <p:pic>
          <p:nvPicPr>
            <p:cNvPr id="77" name="Google Shape;77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18"/>
            <p:cNvSpPr/>
            <p:nvPr/>
          </p:nvSpPr>
          <p:spPr>
            <a:xfrm>
              <a:off x="2051531" y="5793529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" name="Google Shape;79;p18"/>
          <p:cNvGrpSpPr/>
          <p:nvPr/>
        </p:nvGrpSpPr>
        <p:grpSpPr>
          <a:xfrm>
            <a:off x="0" y="-3947"/>
            <a:ext cx="10151227" cy="1731985"/>
            <a:chOff x="2116079" y="5959736"/>
            <a:chExt cx="10151227" cy="1731985"/>
          </a:xfrm>
        </p:grpSpPr>
        <p:pic>
          <p:nvPicPr>
            <p:cNvPr id="80" name="Google Shape;80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18"/>
            <p:cNvSpPr/>
            <p:nvPr/>
          </p:nvSpPr>
          <p:spPr>
            <a:xfrm>
              <a:off x="2191385" y="6030200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11D7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695325" y="1226065"/>
            <a:ext cx="10801350" cy="4938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2260457" y="6532234"/>
            <a:ext cx="9698644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85" name="Google Shape;85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7994" y="6364482"/>
            <a:ext cx="1468823" cy="5417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9"/>
          <p:cNvGrpSpPr/>
          <p:nvPr/>
        </p:nvGrpSpPr>
        <p:grpSpPr>
          <a:xfrm>
            <a:off x="0" y="-3947"/>
            <a:ext cx="10151227" cy="1731985"/>
            <a:chOff x="2116079" y="5959736"/>
            <a:chExt cx="10151227" cy="1731985"/>
          </a:xfrm>
        </p:grpSpPr>
        <p:pic>
          <p:nvPicPr>
            <p:cNvPr id="88" name="Google Shape;88;p19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" name="Google Shape;89;p19"/>
            <p:cNvSpPr/>
            <p:nvPr/>
          </p:nvSpPr>
          <p:spPr>
            <a:xfrm>
              <a:off x="2191385" y="6030200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9"/>
          <p:cNvGrpSpPr/>
          <p:nvPr/>
        </p:nvGrpSpPr>
        <p:grpSpPr>
          <a:xfrm>
            <a:off x="2051531" y="5137310"/>
            <a:ext cx="10140469" cy="1726066"/>
            <a:chOff x="2051531" y="5793529"/>
            <a:chExt cx="10140469" cy="1726066"/>
          </a:xfrm>
        </p:grpSpPr>
        <p:pic>
          <p:nvPicPr>
            <p:cNvPr id="91" name="Google Shape;91;p19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" name="Google Shape;92;p19"/>
            <p:cNvSpPr/>
            <p:nvPr/>
          </p:nvSpPr>
          <p:spPr>
            <a:xfrm>
              <a:off x="2051531" y="5793529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" name="Google Shape;93;p19"/>
          <p:cNvSpPr txBox="1">
            <a:spLocks noGrp="1"/>
          </p:cNvSpPr>
          <p:nvPr>
            <p:ph type="body" idx="1"/>
          </p:nvPr>
        </p:nvSpPr>
        <p:spPr>
          <a:xfrm>
            <a:off x="2260457" y="6532234"/>
            <a:ext cx="9698644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7994" y="6364482"/>
            <a:ext cx="1468823" cy="54177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>
            <a:spLocks noGrp="1"/>
          </p:cNvSpPr>
          <p:nvPr>
            <p:ph type="body" idx="2"/>
          </p:nvPr>
        </p:nvSpPr>
        <p:spPr>
          <a:xfrm>
            <a:off x="695325" y="1226065"/>
            <a:ext cx="10801350" cy="4938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 rotWithShape="1">
          <a:blip r:embed="rId4">
            <a:alphaModFix/>
          </a:blip>
          <a:srcRect l="13070" t="2102" r="13441" b="24408"/>
          <a:stretch/>
        </p:blipFill>
        <p:spPr>
          <a:xfrm>
            <a:off x="11131297" y="231878"/>
            <a:ext cx="828826" cy="82882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11D7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3999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8" name="Rectangle 7"/>
          <p:cNvSpPr/>
          <p:nvPr userDrawn="1"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101600" y="3352801"/>
            <a:ext cx="27432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 userDrawn="1"/>
        </p:nvSpPr>
        <p:spPr>
          <a:xfrm>
            <a:off x="-101600" y="52578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203200" y="56673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352800" y="5410200"/>
            <a:ext cx="80264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943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 userDrawn="1"/>
        </p:nvSpPr>
        <p:spPr>
          <a:xfrm>
            <a:off x="0" y="4281488"/>
            <a:ext cx="12192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pic>
        <p:nvPicPr>
          <p:cNvPr id="5" name="Picture 8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7" name="Rectangle 6"/>
          <p:cNvSpPr/>
          <p:nvPr userDrawn="1"/>
        </p:nvSpPr>
        <p:spPr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8" name="Rectangle 7"/>
          <p:cNvSpPr/>
          <p:nvPr userDrawn="1"/>
        </p:nvSpPr>
        <p:spPr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9" name="TextBox 8"/>
          <p:cNvSpPr txBox="1"/>
          <p:nvPr userDrawn="1"/>
        </p:nvSpPr>
        <p:spPr>
          <a:xfrm>
            <a:off x="9144000" y="7620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9448800" y="11715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406400" y="4648200"/>
            <a:ext cx="112776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561119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grpSp>
        <p:nvGrpSpPr>
          <p:cNvPr id="14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969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20"/>
          <p:cNvGrpSpPr/>
          <p:nvPr/>
        </p:nvGrpSpPr>
        <p:grpSpPr>
          <a:xfrm>
            <a:off x="0" y="-3947"/>
            <a:ext cx="10151227" cy="1731985"/>
            <a:chOff x="2116079" y="5959736"/>
            <a:chExt cx="10151227" cy="1731985"/>
          </a:xfrm>
        </p:grpSpPr>
        <p:pic>
          <p:nvPicPr>
            <p:cNvPr id="100" name="Google Shape;100;p2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p20"/>
            <p:cNvSpPr/>
            <p:nvPr/>
          </p:nvSpPr>
          <p:spPr>
            <a:xfrm>
              <a:off x="2191385" y="6030200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20"/>
          <p:cNvGrpSpPr/>
          <p:nvPr/>
        </p:nvGrpSpPr>
        <p:grpSpPr>
          <a:xfrm>
            <a:off x="2051531" y="5137310"/>
            <a:ext cx="10140469" cy="1726066"/>
            <a:chOff x="2051531" y="5793529"/>
            <a:chExt cx="10140469" cy="1726066"/>
          </a:xfrm>
        </p:grpSpPr>
        <p:pic>
          <p:nvPicPr>
            <p:cNvPr id="103" name="Google Shape;103;p2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" name="Google Shape;104;p20"/>
            <p:cNvSpPr/>
            <p:nvPr/>
          </p:nvSpPr>
          <p:spPr>
            <a:xfrm>
              <a:off x="2051531" y="5793529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" name="Google Shape;105;p20"/>
          <p:cNvSpPr txBox="1">
            <a:spLocks noGrp="1"/>
          </p:cNvSpPr>
          <p:nvPr>
            <p:ph type="body" idx="1"/>
          </p:nvPr>
        </p:nvSpPr>
        <p:spPr>
          <a:xfrm>
            <a:off x="2260457" y="6532234"/>
            <a:ext cx="9698644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7994" y="6364482"/>
            <a:ext cx="1468823" cy="54177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0"/>
          <p:cNvSpPr txBox="1">
            <a:spLocks noGrp="1"/>
          </p:cNvSpPr>
          <p:nvPr>
            <p:ph type="body" idx="2"/>
          </p:nvPr>
        </p:nvSpPr>
        <p:spPr>
          <a:xfrm>
            <a:off x="695326" y="1226065"/>
            <a:ext cx="5288032" cy="493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body" idx="3"/>
          </p:nvPr>
        </p:nvSpPr>
        <p:spPr>
          <a:xfrm>
            <a:off x="6211959" y="1226065"/>
            <a:ext cx="5288032" cy="493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9" name="Google Shape;109;p20"/>
          <p:cNvPicPr preferRelativeResize="0"/>
          <p:nvPr/>
        </p:nvPicPr>
        <p:blipFill rotWithShape="1">
          <a:blip r:embed="rId4">
            <a:alphaModFix/>
          </a:blip>
          <a:srcRect l="13070" t="2102" r="13441" b="24408"/>
          <a:stretch/>
        </p:blipFill>
        <p:spPr>
          <a:xfrm>
            <a:off x="11131297" y="231878"/>
            <a:ext cx="828826" cy="82882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11D7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60947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grpSp>
        <p:nvGrpSpPr>
          <p:cNvPr id="14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67210A1-D9D8-4406-AA8C-189570548DAB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19D97FF-0E15-4DEA-9B96-99199D6F8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650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tlassian.com/agile/software-development/sdlc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879003" y="3810000"/>
            <a:ext cx="8500198" cy="1524000"/>
          </a:xfrm>
        </p:spPr>
        <p:txBody>
          <a:bodyPr/>
          <a:lstStyle/>
          <a:p>
            <a:pPr>
              <a:defRPr/>
            </a:pPr>
            <a:r>
              <a:rPr lang="en-US" sz="4000" dirty="0"/>
              <a:t>AI-Augmented Software Development Life Cycle </a:t>
            </a:r>
            <a:br>
              <a:rPr lang="en-US" sz="4000" dirty="0"/>
            </a:br>
            <a:r>
              <a:rPr lang="en-US" sz="4000" dirty="0"/>
              <a:t>SEZG534</a:t>
            </a:r>
          </a:p>
        </p:txBody>
      </p:sp>
      <p:sp>
        <p:nvSpPr>
          <p:cNvPr id="13315" name="Content Placehold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dirty="0" err="1"/>
              <a:t>Akshaya</a:t>
            </a:r>
            <a:r>
              <a:rPr lang="en-US" altLang="en-US" dirty="0"/>
              <a:t> </a:t>
            </a:r>
            <a:r>
              <a:rPr lang="en-US" altLang="en-US" dirty="0" err="1"/>
              <a:t>Ganesan</a:t>
            </a:r>
            <a:endParaRPr lang="en-US" altLang="en-US" dirty="0"/>
          </a:p>
          <a:p>
            <a:pPr eaLnBrk="1" hangingPunct="1">
              <a:spcBef>
                <a:spcPct val="0"/>
              </a:spcBef>
            </a:pPr>
            <a:r>
              <a:rPr lang="en-US" altLang="en-US" dirty="0"/>
              <a:t>CSIS, WILP</a:t>
            </a:r>
          </a:p>
        </p:txBody>
      </p:sp>
    </p:spTree>
    <p:extLst>
      <p:ext uri="{BB962C8B-B14F-4D97-AF65-F5344CB8AC3E}">
        <p14:creationId xmlns:p14="http://schemas.microsoft.com/office/powerpoint/2010/main" val="2018772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spcBef>
                <a:spcPct val="0"/>
              </a:spcBef>
              <a:defRPr/>
            </a:pPr>
            <a:r>
              <a:rPr lang="en-US" sz="3600" dirty="0">
                <a:latin typeface="Arial" charset="0"/>
                <a:cs typeface="Arial" charset="0"/>
              </a:rPr>
              <a:t>Contact Session: 2 </a:t>
            </a:r>
            <a:r>
              <a:rPr lang="en-US" dirty="0">
                <a:latin typeface="Arial" charset="0"/>
                <a:cs typeface="Arial" charset="0"/>
              </a:rPr>
              <a:t>- </a:t>
            </a:r>
            <a:r>
              <a:rPr lang="en-IN" sz="3600" dirty="0"/>
              <a:t>Foundations and Paradigm Shift</a:t>
            </a:r>
            <a:endParaRPr lang="en-US" sz="36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169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5F543ED-4626-99EC-2979-2CCF2F22A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20F453-5777-F5FC-71C9-DFE44FE3356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Software Development Life Cycle (SDLC) is the process of planning, developing, testing, deploying, and maintenance of software systems. </a:t>
            </a:r>
          </a:p>
          <a:p>
            <a:r>
              <a:rPr lang="en-US" dirty="0"/>
              <a:t>The goal is to </a:t>
            </a:r>
            <a:r>
              <a:rPr lang="en-US" u="sng" dirty="0">
                <a:solidFill>
                  <a:srgbClr val="FF0000"/>
                </a:solidFill>
              </a:rPr>
              <a:t>create and deploy high-quality software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that meets customers’ needs and is completed within cost and time estimates.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BD31BEE-F0BA-4A24-9A01-DED4B3339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Evolution of Software Development Life Cycle (SDLC) Models</a:t>
            </a:r>
          </a:p>
        </p:txBody>
      </p:sp>
    </p:spTree>
    <p:extLst>
      <p:ext uri="{BB962C8B-B14F-4D97-AF65-F5344CB8AC3E}">
        <p14:creationId xmlns:p14="http://schemas.microsoft.com/office/powerpoint/2010/main" val="2482315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95C084-DB15-B7DD-5F7F-D95869AF55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B6C3BD-B374-6966-6A9C-7C2931DC742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b="1" dirty="0"/>
              <a:t>Waterfall Model (1970) </a:t>
            </a:r>
            <a:r>
              <a:rPr lang="en-US" dirty="0"/>
              <a:t>provided a linear sequential approach to managing software projects.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4948E8D-63B1-144E-A70B-BC7EC0EA6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6B5D20-25C9-F4DA-F8C0-6196462FB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622" y="2306488"/>
            <a:ext cx="68580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025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93A182-7C62-9514-4215-AEE16813C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7B0FD8-BF92-3505-9397-B8C9D606BCC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95324" y="1226065"/>
            <a:ext cx="5171321" cy="4938048"/>
          </a:xfrm>
        </p:spPr>
        <p:txBody>
          <a:bodyPr/>
          <a:lstStyle/>
          <a:p>
            <a:r>
              <a:rPr lang="en-US" dirty="0"/>
              <a:t>V-model (1980) was an evolution of the classic waterfall methodology. </a:t>
            </a:r>
          </a:p>
          <a:p>
            <a:r>
              <a:rPr lang="en-US" dirty="0"/>
              <a:t>The phases were executed in a sequential V-shape. </a:t>
            </a:r>
          </a:p>
          <a:p>
            <a:r>
              <a:rPr lang="en-US" dirty="0"/>
              <a:t>A testing phase was associated with each corresponding development stage.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0C8641A-917B-30B3-A4AF-675F87D8F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V-model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CA52F1-7D5A-8595-0FCF-64767CA29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194" y="1732812"/>
            <a:ext cx="5034481" cy="339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239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9D42A8F-BA8C-8766-90FD-694EF9ED23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B349D-810C-B04C-1286-9E8C419DB30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95326" y="1226065"/>
            <a:ext cx="8041268" cy="493804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 Agile methodology takes a flexible, iterative approach to software development. </a:t>
            </a:r>
          </a:p>
          <a:p>
            <a:r>
              <a:rPr lang="en-US" dirty="0"/>
              <a:t>It emphasizes collaboration, adaptability, and customer feedback, with development occurring in small, incremental cycles called "sprints.“</a:t>
            </a:r>
          </a:p>
          <a:p>
            <a:r>
              <a:rPr lang="en-US" b="1" dirty="0"/>
              <a:t>Iterative (1975)</a:t>
            </a:r>
            <a:r>
              <a:rPr lang="en-US" dirty="0"/>
              <a:t> and </a:t>
            </a:r>
            <a:r>
              <a:rPr lang="en-US" b="1" dirty="0"/>
              <a:t>Incremental (1978)</a:t>
            </a:r>
            <a:r>
              <a:rPr lang="en-US" dirty="0"/>
              <a:t> models attempted to establish an agile and adaptive framework. </a:t>
            </a:r>
          </a:p>
          <a:p>
            <a:r>
              <a:rPr lang="en-US" dirty="0"/>
              <a:t>It involved starting with the implementation of a subset (of the software requirements) and iteratively enhancing the evolving versions until the full system was implemented. 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C82E871-E7BA-9C0A-F9C4-CE142C0C7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Model</a:t>
            </a:r>
          </a:p>
        </p:txBody>
      </p:sp>
    </p:spTree>
    <p:extLst>
      <p:ext uri="{BB962C8B-B14F-4D97-AF65-F5344CB8AC3E}">
        <p14:creationId xmlns:p14="http://schemas.microsoft.com/office/powerpoint/2010/main" val="3398414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B9D2A9-351F-E25E-D0F0-DB9986F41F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A0ABF33-7409-E75F-A774-3F1D837CCD3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DevOps  emphasizes continuous integration and continuous deployment (CI/CD), bridging the gap between development and operations teams. I</a:t>
            </a:r>
          </a:p>
          <a:p>
            <a:r>
              <a:rPr lang="en-US" dirty="0"/>
              <a:t>t promotes collaboration and automation, ensuring code changes are quickly and safely deployed.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AA0250D-75BE-E2D1-F05B-68214087D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DevOps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53FDCD-CC33-5CA0-4DCF-852F37E32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524" y="3526910"/>
            <a:ext cx="6864794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164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601F3F-2F20-D2EF-99CD-3C4CA2FF6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0086CF-3AC2-581F-4F04-82A02D45C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AF28910-6C82-C2BD-09CF-F37486D7F0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036651"/>
              </p:ext>
            </p:extLst>
          </p:nvPr>
        </p:nvGraphicFramePr>
        <p:xfrm>
          <a:off x="838200" y="1341120"/>
          <a:ext cx="10515600" cy="4389120"/>
        </p:xfrm>
        <a:graphic>
          <a:graphicData uri="http://schemas.openxmlformats.org/drawingml/2006/table">
            <a:tbl>
              <a:tblPr/>
              <a:tblGrid>
                <a:gridCol w="1469389">
                  <a:extLst>
                    <a:ext uri="{9D8B030D-6E8A-4147-A177-3AD203B41FA5}">
                      <a16:colId xmlns:a16="http://schemas.microsoft.com/office/drawing/2014/main" val="3755147614"/>
                    </a:ext>
                  </a:extLst>
                </a:gridCol>
                <a:gridCol w="1408291">
                  <a:extLst>
                    <a:ext uri="{9D8B030D-6E8A-4147-A177-3AD203B41FA5}">
                      <a16:colId xmlns:a16="http://schemas.microsoft.com/office/drawing/2014/main" val="3317540371"/>
                    </a:ext>
                  </a:extLst>
                </a:gridCol>
                <a:gridCol w="1430068">
                  <a:extLst>
                    <a:ext uri="{9D8B030D-6E8A-4147-A177-3AD203B41FA5}">
                      <a16:colId xmlns:a16="http://schemas.microsoft.com/office/drawing/2014/main" val="1473324115"/>
                    </a:ext>
                  </a:extLst>
                </a:gridCol>
                <a:gridCol w="2039844">
                  <a:extLst>
                    <a:ext uri="{9D8B030D-6E8A-4147-A177-3AD203B41FA5}">
                      <a16:colId xmlns:a16="http://schemas.microsoft.com/office/drawing/2014/main" val="2373518901"/>
                    </a:ext>
                  </a:extLst>
                </a:gridCol>
                <a:gridCol w="2084004">
                  <a:extLst>
                    <a:ext uri="{9D8B030D-6E8A-4147-A177-3AD203B41FA5}">
                      <a16:colId xmlns:a16="http://schemas.microsoft.com/office/drawing/2014/main" val="3835485669"/>
                    </a:ext>
                  </a:extLst>
                </a:gridCol>
                <a:gridCol w="2084004">
                  <a:extLst>
                    <a:ext uri="{9D8B030D-6E8A-4147-A177-3AD203B41FA5}">
                      <a16:colId xmlns:a16="http://schemas.microsoft.com/office/drawing/2014/main" val="36436436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Era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Core Paradigm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Iteration Cycle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Primary Bottleneck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Primary Output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AI Impact / Transformation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667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Waterfall (1970s–1990s)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Sequential, documentation-heavy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Months to Years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Rigid handoffs, upfront planning, and zero early feedback.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Comprehensive documentation before writing code.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AI converts unstructured spec docs straight to code &amp; test cases.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23215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Agile &amp; Scrum (2000s–2010s)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Iterative, customer feedback focus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Weeks (Sprints)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Communication overhead, sprint context-switching, and manual story creation.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Working software delivered in short sprints (2–4 weeks).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AI auto-generates user stories, estimates velocity, and writes initial PRs.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9296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DevOps &amp; CI/CD (2010s–2020s)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Automated pipelines &amp; continuous delivery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Days to Hours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Operational handoffs, manual testing, and deployment risks.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Continuous integration, automated deployment, and infrastructure-as-code.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AI automates pipeline failure diagnostics, auto-remediates, and predicts deployment risk.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390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AI-Native / Agentic SDLC (2020s+)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Autonomous AI agents, intent-driven design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Real-time / On-demand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Google Sans Text"/>
                        </a:rPr>
                        <a:t>Human verification, architectural governance, AI hallucination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Google Sans Text"/>
                          <a:ea typeface="+mn-ea"/>
                          <a:cs typeface="+mn-cs"/>
                          <a:sym typeface="Arial"/>
                        </a:rPr>
                        <a:t>Continuous, autonomous feature synthesis with human oversight (Human-in-the-Loop).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  <a:effectLst/>
                          <a:latin typeface="Google Sans Text"/>
                        </a:rPr>
                        <a:t>Human shifts from author/builder to orchestrator/reviewer.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1058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7463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673391F-2CB7-EBD4-7150-321B44DE7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427A13-D32B-904D-876D-4067C5DD320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Is SDLC relevant?</a:t>
            </a:r>
          </a:p>
          <a:p>
            <a:r>
              <a:rPr lang="en-US" dirty="0"/>
              <a:t>What SDLC model is suitable for your Project?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60F754-896A-293A-F923-2296B31DA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and A</a:t>
            </a:r>
          </a:p>
        </p:txBody>
      </p:sp>
    </p:spTree>
    <p:extLst>
      <p:ext uri="{BB962C8B-B14F-4D97-AF65-F5344CB8AC3E}">
        <p14:creationId xmlns:p14="http://schemas.microsoft.com/office/powerpoint/2010/main" val="2241196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F45F13-3A6D-CAFB-A058-0D0663E0A5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6CE33-C4D0-D0E3-8FE0-C8A950085B6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/>
              <a:t>Accelerate software delivery, and reduce time to market</a:t>
            </a:r>
          </a:p>
          <a:p>
            <a:pPr lvl="0"/>
            <a:r>
              <a:rPr lang="en-US" dirty="0"/>
              <a:t>Continuously incorporate customer feedback</a:t>
            </a:r>
          </a:p>
          <a:p>
            <a:pPr lvl="0"/>
            <a:r>
              <a:rPr lang="en-US" dirty="0"/>
              <a:t>Reduce project risk and cost</a:t>
            </a:r>
          </a:p>
          <a:p>
            <a:pPr lvl="0"/>
            <a:r>
              <a:rPr lang="en-US" dirty="0"/>
              <a:t>Increase productivity, collaboration, and business alignment</a:t>
            </a:r>
          </a:p>
          <a:p>
            <a:pPr lvl="0"/>
            <a:r>
              <a:rPr lang="en-US" dirty="0"/>
              <a:t>Enhance software quality and security</a:t>
            </a:r>
          </a:p>
          <a:p>
            <a:pPr lvl="0"/>
            <a:r>
              <a:rPr lang="en-US" dirty="0"/>
              <a:t>Frequent updates to complex infrastructure without disruptions (No-downtime)</a:t>
            </a:r>
          </a:p>
          <a:p>
            <a:pPr lvl="0"/>
            <a:r>
              <a:rPr lang="en-US" dirty="0"/>
              <a:t>Increase automation.</a:t>
            </a:r>
          </a:p>
          <a:p>
            <a:pPr lvl="0"/>
            <a:r>
              <a:rPr lang="en-US" dirty="0"/>
              <a:t>Personnel/Developer/Skill shortage.</a:t>
            </a:r>
          </a:p>
          <a:p>
            <a:pPr lvl="0"/>
            <a:r>
              <a:rPr lang="en-US" dirty="0"/>
              <a:t>Rapid evolution of technologies: hybrid clouds, containers, Low code development platforms, 5G, IoT, AI, Big Data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3F9D0B5-B1CF-39EB-FFB6-862CC6861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Key factors driving SDLC model evolution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617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B0EA8A9-1EC7-0CDB-F1DE-A01866041A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FFD9E54-D842-B9F1-952F-E62C3FD81F66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/>
            <p:txBody>
              <a:bodyPr/>
              <a:lstStyle/>
              <a:p>
                <a:pPr marL="76200" indent="0">
                  <a:buNone/>
                </a:pPr>
                <a:r>
                  <a:rPr lang="en-US" b="1" dirty="0"/>
                  <a:t>Phase 1: Requirements &amp; Architecture</a:t>
                </a:r>
              </a:p>
              <a:p>
                <a:pPr lvl="0"/>
                <a:r>
                  <a:rPr lang="en-US" b="1" dirty="0"/>
                  <a:t>Traditional Approach:</a:t>
                </a:r>
                <a:r>
                  <a:rPr lang="en-US" dirty="0"/>
                  <a:t> Product Manager writes a PRD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Architect designs database schemas and API endpoints manually over weeks.</a:t>
                </a:r>
              </a:p>
              <a:p>
                <a:pPr lvl="0"/>
                <a:r>
                  <a:rPr lang="en-US" b="1" dirty="0"/>
                  <a:t>AI-Accelerated Approach:</a:t>
                </a:r>
                <a:endParaRPr lang="en-US" dirty="0"/>
              </a:p>
              <a:p>
                <a:pPr lvl="1"/>
                <a:r>
                  <a:rPr lang="en-US" b="1" dirty="0"/>
                  <a:t>Intent-to-Spec:</a:t>
                </a:r>
                <a:r>
                  <a:rPr lang="en-US" dirty="0"/>
                  <a:t> Raw meeting transcripts or high-level prompts are converted directly into structured </a:t>
                </a:r>
                <a:r>
                  <a:rPr lang="en-US" dirty="0" err="1"/>
                  <a:t>OpenAPI</a:t>
                </a:r>
                <a:r>
                  <a:rPr lang="en-US" dirty="0"/>
                  <a:t> specifications and database schemas.</a:t>
                </a:r>
              </a:p>
              <a:p>
                <a:pPr lvl="1"/>
                <a:r>
                  <a:rPr lang="en-US" b="1" dirty="0"/>
                  <a:t>Architectural Simulation:</a:t>
                </a:r>
                <a:r>
                  <a:rPr lang="en-US" dirty="0"/>
                  <a:t> AI agents evaluate system topology for concurrency bottlenecks prior to implementation.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FFD9E54-D842-B9F1-952F-E62C3FD81F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blipFill>
                <a:blip r:embed="rId2"/>
                <a:stretch>
                  <a:fillRect l="-113" r="-1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801ECA7E-4C58-24AC-1928-320089330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Impact Across SDLC Phases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224941A-04CF-052F-47D4-1AE38D1D5E82}"/>
                  </a:ext>
                </a:extLst>
              </p14:cNvPr>
              <p14:cNvContentPartPr/>
              <p14:nvPr/>
            </p14:nvContentPartPr>
            <p14:xfrm>
              <a:off x="1371600" y="901800"/>
              <a:ext cx="10141200" cy="4185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224941A-04CF-052F-47D4-1AE38D1D5E8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62240" y="892440"/>
                <a:ext cx="10159920" cy="420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0108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B025E-E2F8-A958-5959-2C105C473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4BB077A-CA28-FD31-7592-0968D60C7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C5739-6D55-7179-6371-E7539191AE8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b="1" dirty="0"/>
              <a:t>Phase 2: Software Development &amp; Coding</a:t>
            </a:r>
          </a:p>
          <a:p>
            <a:pPr lvl="0"/>
            <a:r>
              <a:rPr lang="en-US" b="1" dirty="0"/>
              <a:t>Traditional Approach:</a:t>
            </a:r>
            <a:r>
              <a:rPr lang="en-US" dirty="0"/>
              <a:t> Developers manually write boilerplate, look up syntax on documentation sites, and handcraft unit tests.</a:t>
            </a:r>
          </a:p>
          <a:p>
            <a:pPr lvl="0"/>
            <a:r>
              <a:rPr lang="en-US" b="1" dirty="0"/>
              <a:t>AI-Accelerated Approach:</a:t>
            </a:r>
            <a:endParaRPr lang="en-US" dirty="0"/>
          </a:p>
          <a:p>
            <a:pPr lvl="1"/>
            <a:r>
              <a:rPr lang="en-US" b="1" dirty="0"/>
              <a:t>Copilots to Autonomous Agents:</a:t>
            </a:r>
            <a:r>
              <a:rPr lang="en-US" dirty="0"/>
              <a:t> Context-aware code completion evolved into agentic workflows capable of modifying dozens of files in parallel based on a single task prompt.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80CF4F7-A852-0F45-1B6F-6D268017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Impact Across SDLC Phases</a:t>
            </a:r>
          </a:p>
        </p:txBody>
      </p:sp>
    </p:spTree>
    <p:extLst>
      <p:ext uri="{BB962C8B-B14F-4D97-AF65-F5344CB8AC3E}">
        <p14:creationId xmlns:p14="http://schemas.microsoft.com/office/powerpoint/2010/main" val="3504177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AACCAB-EFE7-F6B4-8F32-E27535CCC4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4157F-0300-1A0A-9EEF-CE14424EADF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b="1" dirty="0"/>
              <a:t>Phase 3: Testing &amp; Quality Assurance (QA)</a:t>
            </a:r>
          </a:p>
          <a:p>
            <a:pPr lvl="0"/>
            <a:r>
              <a:rPr lang="en-US" b="1" dirty="0"/>
              <a:t>Traditional Approach:</a:t>
            </a:r>
            <a:r>
              <a:rPr lang="en-US" dirty="0"/>
              <a:t> Brittle testing scripts written in Selenium/Cypress requiring constant manual updates whenever UI changes.</a:t>
            </a:r>
          </a:p>
          <a:p>
            <a:pPr lvl="0"/>
            <a:r>
              <a:rPr lang="en-US" b="1" dirty="0"/>
              <a:t>AI-Accelerated Approach:</a:t>
            </a:r>
            <a:endParaRPr lang="en-US" dirty="0"/>
          </a:p>
          <a:p>
            <a:pPr lvl="1"/>
            <a:r>
              <a:rPr lang="en-US" b="1" dirty="0"/>
              <a:t>Self-Healing Test Suites:</a:t>
            </a:r>
            <a:r>
              <a:rPr lang="en-US" dirty="0"/>
              <a:t> AI agents automatically update element locators during CI runs when UI structures change.</a:t>
            </a:r>
          </a:p>
          <a:p>
            <a:pPr lvl="1"/>
            <a:r>
              <a:rPr lang="en-US" b="1" dirty="0"/>
              <a:t>Autonomous Edge-Case Generation:</a:t>
            </a:r>
            <a:r>
              <a:rPr lang="en-US" dirty="0"/>
              <a:t> LLMs read code branches and auto-generate test suites covering undetected edge cases.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4E99EB4-3457-3B88-8CDF-BF1AAE0F1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Impact Across SDLC Phases</a:t>
            </a:r>
          </a:p>
        </p:txBody>
      </p:sp>
    </p:spTree>
    <p:extLst>
      <p:ext uri="{BB962C8B-B14F-4D97-AF65-F5344CB8AC3E}">
        <p14:creationId xmlns:p14="http://schemas.microsoft.com/office/powerpoint/2010/main" val="618841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07648-6838-58C2-61AE-8C296CD2E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EA07981-EA62-07F8-0308-EB901CF7D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E8CC0A-E98C-95DB-600F-F89EF672A06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b="1" dirty="0"/>
              <a:t>Phase 4: Code Review &amp; Governance</a:t>
            </a:r>
          </a:p>
          <a:p>
            <a:pPr lvl="0"/>
            <a:r>
              <a:rPr lang="en-US" b="1" dirty="0"/>
              <a:t>Traditional Approach:</a:t>
            </a:r>
            <a:r>
              <a:rPr lang="en-US" dirty="0"/>
              <a:t> Peer code reviews taking 24–72 hours, often missing subtle security flaws or edge cases due to fatigue.</a:t>
            </a:r>
          </a:p>
          <a:p>
            <a:pPr lvl="0"/>
            <a:r>
              <a:rPr lang="en-US" b="1" dirty="0"/>
              <a:t>AI-Accelerated Approach:</a:t>
            </a:r>
            <a:endParaRPr lang="en-US" dirty="0"/>
          </a:p>
          <a:p>
            <a:pPr lvl="1"/>
            <a:r>
              <a:rPr lang="en-US" b="1" dirty="0"/>
              <a:t>Static &amp; Semantic AI Reviewers:</a:t>
            </a:r>
            <a:r>
              <a:rPr lang="en-US" dirty="0"/>
              <a:t> Real-time semantic analysis flags security vulnerabilities (OWASP Top 10), performance regressions, and architectural pattern violations before human notification.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0F21D10-58E0-2DD0-F265-8412F0A09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Impact Across SDLC Phases</a:t>
            </a:r>
          </a:p>
        </p:txBody>
      </p:sp>
    </p:spTree>
    <p:extLst>
      <p:ext uri="{BB962C8B-B14F-4D97-AF65-F5344CB8AC3E}">
        <p14:creationId xmlns:p14="http://schemas.microsoft.com/office/powerpoint/2010/main" val="2560724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B4DE4-E469-8CD8-2E7D-4AEAEB19F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C94FEE-253F-622D-2A02-DD4B9F43F3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857D83-1270-495B-DDAF-F269EAF3D82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b="1" dirty="0"/>
              <a:t>Phase 5: Operations &amp; Incident Response (AIOps)</a:t>
            </a:r>
          </a:p>
          <a:p>
            <a:pPr lvl="0"/>
            <a:r>
              <a:rPr lang="en-US" b="1" dirty="0"/>
              <a:t>Traditional Approach:</a:t>
            </a:r>
            <a:r>
              <a:rPr lang="en-US" dirty="0"/>
              <a:t> Engineers wake up at 2:00 AM, search through </a:t>
            </a:r>
            <a:r>
              <a:rPr lang="en-US" dirty="0" err="1"/>
              <a:t>splunk</a:t>
            </a:r>
            <a:r>
              <a:rPr lang="en-US" dirty="0"/>
              <a:t> logs, and manually trace back stack traces.</a:t>
            </a:r>
          </a:p>
          <a:p>
            <a:pPr lvl="0"/>
            <a:r>
              <a:rPr lang="en-US" b="1" dirty="0"/>
              <a:t>AI-Accelerated Approach:</a:t>
            </a:r>
            <a:endParaRPr lang="en-US" dirty="0"/>
          </a:p>
          <a:p>
            <a:pPr lvl="1"/>
            <a:r>
              <a:rPr lang="en-US" b="1" dirty="0"/>
              <a:t>Autonomous Remediation:</a:t>
            </a:r>
            <a:r>
              <a:rPr lang="en-US" dirty="0"/>
              <a:t> AI agents analyze runtime logs, correlate them with recent pull requests, auto-generate a fix or rollback, and present a root-cause summary to the SRE on call.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E29E49B-18E6-AC8A-EE13-1AF77AE91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Impact Across SDLC Phases</a:t>
            </a:r>
          </a:p>
        </p:txBody>
      </p:sp>
    </p:spTree>
    <p:extLst>
      <p:ext uri="{BB962C8B-B14F-4D97-AF65-F5344CB8AC3E}">
        <p14:creationId xmlns:p14="http://schemas.microsoft.com/office/powerpoint/2010/main" val="2440774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4C9E487-BD1C-7792-633D-707F56FA7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75B5C-777E-35B4-DE2C-D0C0E66D7D7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https://www.atlassian.com/agile/software-development/sdlc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BB71B0-72B9-EFC3-EB0E-EAC3D5E5F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4700545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985</TotalTime>
  <Words>908</Words>
  <Application>Microsoft Office PowerPoint</Application>
  <PresentationFormat>Widescreen</PresentationFormat>
  <Paragraphs>95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Cambria Math</vt:lpstr>
      <vt:lpstr>Google Sans Text</vt:lpstr>
      <vt:lpstr>Helvetica</vt:lpstr>
      <vt:lpstr>1_Office Theme</vt:lpstr>
      <vt:lpstr>AI-Augmented Software Development Life Cycle  SEZG534</vt:lpstr>
      <vt:lpstr>PowerPoint Presentation</vt:lpstr>
      <vt:lpstr>Evolution of Software Development Life Cycle (SDLC) Models</vt:lpstr>
      <vt:lpstr>Waterfall Model</vt:lpstr>
      <vt:lpstr>V-model</vt:lpstr>
      <vt:lpstr>Agile Model</vt:lpstr>
      <vt:lpstr>DevOps</vt:lpstr>
      <vt:lpstr>Comparison</vt:lpstr>
      <vt:lpstr>Q and A</vt:lpstr>
      <vt:lpstr> Key factors driving SDLC model evolution </vt:lpstr>
      <vt:lpstr>AI Impact Across SDLC Phases</vt:lpstr>
      <vt:lpstr>AI Impact Across SDLC Phases</vt:lpstr>
      <vt:lpstr>AI Impact Across SDLC Phases</vt:lpstr>
      <vt:lpstr>AI Impact Across SDLC Phases</vt:lpstr>
      <vt:lpstr>AI Impact Across SDLC Phases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Name</dc:title>
  <dc:creator>Shivam Chauhan</dc:creator>
  <cp:lastModifiedBy>AKSHAYA GANESAN .</cp:lastModifiedBy>
  <cp:revision>68</cp:revision>
  <dcterms:created xsi:type="dcterms:W3CDTF">2022-09-26T09:02:06Z</dcterms:created>
  <dcterms:modified xsi:type="dcterms:W3CDTF">2026-08-02T07:43:23Z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0x010100B3AC44B68C077B4EBA1A8030BA55A96A</vt:lpwstr>
  </property>
</Properties>
</file>